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stakeholders. Today we present the operational and customer analytics report across credit card transactions, covering the architecture, year-end Week 52 milestones, automated ingestion, and the strong expansion in Week 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weekly operations dashboard was built to transform raw transaction feeds into operational clarity, dissecting over 10,000 purchases across revenue mechanics and demographic cohorts.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relies on two clean relational entities: the CREDIT_CARD transaction table tracking balances and tiers, and the CUSTOMER dimension capturing socioeconomic and satisfaction attributes, joined on Client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card revenue compounds three streams: annual membership fees, revolving interest, and transaction volume. The interface provides granular slicing from Week 1 to 52 across payment modes and risk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Week 52, annual cumulative revenue crossed 55M, driven by 45M in direct transactions and 8M in interest. Male cardholders generated 30M against 25M from female cardholders, maintaining a 57.5% activation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displays marked concentration: Blue cards generate 83% of all volume, and geographically, just three states—Texas, New York, and California—account for 77% of total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robustness of the ETL setup was demonstrated as Week 53 data entered the system: 185 records for December 31 were automatically appended to PostgreSQL, triggering real-time dashboard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53 delivered remarkable expansion: revenue jumped 28%, transaction volume surged 33.5%, and active customers grew 12.8%. Delinquency improved down to 5.41% while satisfaction reached a peak of 3.49.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Week 53, male cardholders contributed 708K versus 493K from females. Fuel and entertainment topped merchant categories at 260K each, swipe led transaction modes at 749K, and Blue cards earned 1.04M.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1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04800"/>
            <a:ext cx="568945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OPERATIONS &amp; ANALYTICS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693698"/>
            <a:ext cx="5283068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Credit Card Transactions and Weekly Customer Report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06390" y="3133130"/>
            <a:ext cx="5283068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3407767"/>
            <a:ext cx="5283068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5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Operations monitoring, portfolio KPIs, and Week 53 ingestion performance.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06390" y="5678289"/>
            <a:ext cx="5283068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Business Intelligence &amp; Risk Operations</a:t>
            </a:r>
            <a:endParaRPr lang="en-US" sz="13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Portfolio Reporting Period: Weeks 1–53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90" y="6329759"/>
            <a:ext cx="5283068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CCDB Pipeline · PostgreSQL &amp; Power BI Architecture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228600"/>
            <a:ext cx="5867253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86115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 live weekly dashboard for credit card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67024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299494"/>
            <a:ext cx="3454314" cy="3155057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2629694"/>
            <a:ext cx="317492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OPERATIONAL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8978" y="3069669"/>
            <a:ext cx="289552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performance tracking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8978" y="3844925"/>
            <a:ext cx="2895528" cy="127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Delivers continuous operational visibility into key card metrics, monitoring transaction velocity, delinquency risk, and customer trends week over week.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1" y="2299494"/>
            <a:ext cx="3454314" cy="3155057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0" name="Text 8"/>
          <p:cNvSpPr/>
          <p:nvPr/>
        </p:nvSpPr>
        <p:spPr>
          <a:xfrm>
            <a:off x="4648084" y="2629694"/>
            <a:ext cx="317492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TRANSACTION 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8084" y="3069669"/>
            <a:ext cx="289552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10,108 purchase records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8084" y="3542705"/>
            <a:ext cx="2895528" cy="127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Granular telemetry capturing revenue generation across interest earned, card activation milestones, swipe vs chip spending, and customer usage frequency.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797" y="2299494"/>
            <a:ext cx="3454314" cy="3155057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4" name="Text 12"/>
          <p:cNvSpPr/>
          <p:nvPr/>
        </p:nvSpPr>
        <p:spPr>
          <a:xfrm>
            <a:off x="8407190" y="2629694"/>
            <a:ext cx="317492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DEMOGRAPHICS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07190" y="3069669"/>
            <a:ext cx="289552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Multi-dimensional splits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07190" y="3542705"/>
            <a:ext cx="2895528" cy="127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Deep revenue decomposition segmented across customer age cohorts, professional categories, marital status, income brackets, and gender segments.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585" y="6025059"/>
            <a:ext cx="11582110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Source: CCDB Database · Weekly Customer Intelligence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23174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Two linked tables hold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061270"/>
            <a:ext cx="5333867" cy="2640211"/>
          </a:xfrm>
          <a:prstGeom prst="rect">
            <a:avLst/>
          </a:prstGeom>
          <a:solidFill>
            <a:srgbClr val="D5D3CC"/>
          </a:solidFill>
          <a:ln w="12700">
            <a:solidFill>
              <a:srgbClr val="E7E3DA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2476" y="2355592"/>
            <a:ext cx="464808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CREDIT_CARD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2476" y="2915940"/>
            <a:ext cx="4990975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10,108 rows · 18 columns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52476" y="3325118"/>
            <a:ext cx="4648084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3523555"/>
            <a:ext cx="464808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Card type: Blue, Silver, Platinum, Gold; interest earned; credit limit; fees; acquisition cost; utilization; delinquency.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2061270"/>
            <a:ext cx="5333867" cy="264021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9" name="Shape 7"/>
          <p:cNvSpPr/>
          <p:nvPr/>
        </p:nvSpPr>
        <p:spPr>
          <a:xfrm>
            <a:off x="6248244" y="2061270"/>
            <a:ext cx="5333867" cy="25400"/>
          </a:xfrm>
          <a:prstGeom prst="rect">
            <a:avLst/>
          </a:prstGeom>
          <a:solidFill>
            <a:srgbClr val="D87346"/>
          </a:solidFill>
          <a:ln/>
        </p:spPr>
      </p:sp>
      <p:sp>
        <p:nvSpPr>
          <p:cNvPr id="10" name="Text 8"/>
          <p:cNvSpPr/>
          <p:nvPr/>
        </p:nvSpPr>
        <p:spPr>
          <a:xfrm>
            <a:off x="6578435" y="2368292"/>
            <a:ext cx="467348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78435" y="2928640"/>
            <a:ext cx="5003675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10,108 rows · 15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78435" y="3337818"/>
            <a:ext cx="4673483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78435" y="3536255"/>
            <a:ext cx="46734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Demographics; education; profession; income; satisfaction score.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496341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5238055"/>
            <a:ext cx="11582110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Joined on Client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627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From CSV to dashboard in four moves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2040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4385469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4652169"/>
            <a:ext cx="2514537" cy="1905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4786154"/>
            <a:ext cx="205734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CSV files into PostgreSQL (database CCDB)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509" y="4385469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8914" y="4652169"/>
            <a:ext cx="2514537" cy="1905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9" name="Text 7"/>
          <p:cNvSpPr/>
          <p:nvPr/>
        </p:nvSpPr>
        <p:spPr>
          <a:xfrm>
            <a:off x="3657509" y="4786154"/>
            <a:ext cx="205734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Connect to Power BI through Get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6838" y="4385469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48244" y="4652169"/>
            <a:ext cx="2514537" cy="1905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838" y="4786154"/>
            <a:ext cx="20573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Add age group, income group and revenue columns; build DAX measures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67573" y="4156869"/>
            <a:ext cx="2514537" cy="209153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4" name="Shape 12"/>
          <p:cNvSpPr/>
          <p:nvPr/>
        </p:nvSpPr>
        <p:spPr>
          <a:xfrm>
            <a:off x="9067573" y="4156869"/>
            <a:ext cx="2514537" cy="25400"/>
          </a:xfrm>
          <a:prstGeom prst="rect">
            <a:avLst/>
          </a:prstGeom>
          <a:solidFill>
            <a:srgbClr val="D87346"/>
          </a:solidFill>
          <a:ln/>
        </p:spPr>
      </p:sp>
      <p:sp>
        <p:nvSpPr>
          <p:cNvPr id="15" name="Text 13"/>
          <p:cNvSpPr/>
          <p:nvPr/>
        </p:nvSpPr>
        <p:spPr>
          <a:xfrm>
            <a:off x="9296167" y="4410869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5292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67573" y="4677569"/>
            <a:ext cx="2514537" cy="1905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7" name="Text 15"/>
          <p:cNvSpPr/>
          <p:nvPr/>
        </p:nvSpPr>
        <p:spPr>
          <a:xfrm>
            <a:off x="9296167" y="4811554"/>
            <a:ext cx="20573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Publish two dashboards: transactions and customers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MECHANICS &amp; SLICERS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86115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Revenue = annual fees + interest + transaction amount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67024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64048"/>
            <a:ext cx="10972526" cy="325874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6" name="Text 4"/>
          <p:cNvSpPr/>
          <p:nvPr/>
        </p:nvSpPr>
        <p:spPr>
          <a:xfrm>
            <a:off x="1015975" y="2681585"/>
            <a:ext cx="2235144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46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WoW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15975" y="3347383"/>
            <a:ext cx="22351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Week-on-Week Tracking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5975" y="4122638"/>
            <a:ext cx="2235144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Current vs previous week revenue delta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4314" y="2445048"/>
            <a:ext cx="2641534" cy="25400"/>
          </a:xfrm>
          <a:prstGeom prst="rect">
            <a:avLst/>
          </a:prstGeom>
          <a:solidFill>
            <a:srgbClr val="D8734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2706985"/>
            <a:ext cx="2235144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46" kern="1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KPIs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657509" y="3372783"/>
            <a:ext cx="223514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Health &amp; Risk Metrics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509" y="3845818"/>
            <a:ext cx="2235144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Delinquent rate and card activation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9042" y="2681585"/>
            <a:ext cx="2235144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46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1–52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99042" y="3347383"/>
            <a:ext cx="223514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Temporal Granularity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99042" y="3820418"/>
            <a:ext cx="2235144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Interactive week selector and quarterly slicers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40576" y="2681585"/>
            <a:ext cx="2235144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46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 Modes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940576" y="3931583"/>
            <a:ext cx="223514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Transaction Modalities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40576" y="4404618"/>
            <a:ext cx="2235144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Slicers for swipe, chip, and online purchases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9585" y="5657850"/>
            <a:ext cx="66038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Interactive filters also isolate gender demographics and credit card categories across Blue, Silver, Gold, and Platinum.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47964" y="2445048"/>
            <a:ext cx="12700" cy="2598341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9498" y="2445048"/>
            <a:ext cx="12700" cy="2598341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22" name="Shape 20"/>
          <p:cNvSpPr/>
          <p:nvPr/>
        </p:nvSpPr>
        <p:spPr>
          <a:xfrm>
            <a:off x="8731032" y="2445048"/>
            <a:ext cx="12700" cy="2598341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YEAR-END MILESTONE · WEEK 52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86115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Week 52: revenue reached 55M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624211"/>
            <a:ext cx="72134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Total interest 8M; transaction amount 45M.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18142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40298"/>
            <a:ext cx="6603835" cy="330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940723"/>
            <a:ext cx="6659694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Revenue by gender, Week 52 · Currency in Millions (M)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26368" y="2547243"/>
            <a:ext cx="3855743" cy="180498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9" name="Text 6"/>
          <p:cNvSpPr/>
          <p:nvPr/>
        </p:nvSpPr>
        <p:spPr>
          <a:xfrm>
            <a:off x="7929563" y="2746696"/>
            <a:ext cx="3449353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57.5%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929563" y="3470910"/>
            <a:ext cx="344935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Activation Rate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29563" y="3943945"/>
            <a:ext cx="365254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Sustained portfolio activation baseline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26368" y="4352230"/>
            <a:ext cx="3855743" cy="180498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3" name="Text 10"/>
          <p:cNvSpPr/>
          <p:nvPr/>
        </p:nvSpPr>
        <p:spPr>
          <a:xfrm>
            <a:off x="7929563" y="4551684"/>
            <a:ext cx="3449353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6.06%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7929563" y="5275898"/>
            <a:ext cx="344935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Delinquent Rate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929563" y="5748933"/>
            <a:ext cx="365254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Monitored risk threshold at year-end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26368" y="4345880"/>
            <a:ext cx="3855743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9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PORTFOLIO CONCENTRATION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904393"/>
            <a:ext cx="10972526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50" spc="-12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Blue cards and three states dominate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09585" y="143202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628080"/>
            <a:ext cx="2400240" cy="431829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1932880"/>
            <a:ext cx="2044649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18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PRODUCT CONCENTRATION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5176" y="2345100"/>
            <a:ext cx="1689058" cy="793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250" spc="-62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83%</a:t>
            </a:r>
            <a:endParaRPr lang="en-US" sz="6250" dirty="0"/>
          </a:p>
        </p:txBody>
      </p:sp>
      <p:sp>
        <p:nvSpPr>
          <p:cNvPr id="8" name="Text 6"/>
          <p:cNvSpPr/>
          <p:nvPr/>
        </p:nvSpPr>
        <p:spPr>
          <a:xfrm>
            <a:off x="965176" y="3150295"/>
            <a:ext cx="1689058" cy="964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Blue cards share of transactions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5176" y="4268291"/>
            <a:ext cx="1688959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5176" y="4412853"/>
            <a:ext cx="1689058" cy="1149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Silver tier represents a distant second at 10% of transaction activity, while Gold and Platinum form specialized low-volume tiers.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67013" y="1628080"/>
            <a:ext cx="2400240" cy="431829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2" name="Text 10"/>
          <p:cNvSpPr/>
          <p:nvPr/>
        </p:nvSpPr>
        <p:spPr>
          <a:xfrm>
            <a:off x="3822604" y="1932880"/>
            <a:ext cx="2044649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18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PRODUCT CONCENTRATION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22604" y="2345100"/>
            <a:ext cx="1689058" cy="793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250" spc="-62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83%</a:t>
            </a:r>
            <a:endParaRPr lang="en-US" sz="6250" dirty="0"/>
          </a:p>
        </p:txBody>
      </p:sp>
      <p:sp>
        <p:nvSpPr>
          <p:cNvPr id="14" name="Text 12"/>
          <p:cNvSpPr/>
          <p:nvPr/>
        </p:nvSpPr>
        <p:spPr>
          <a:xfrm>
            <a:off x="3822604" y="3150295"/>
            <a:ext cx="1689058" cy="964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Blue cards share of transactions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22604" y="4268291"/>
            <a:ext cx="1688959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22604" y="4412853"/>
            <a:ext cx="1689058" cy="1149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Silver tier represents a distant second at 10% of transaction activity, while Gold and Platinum form specialized low-volume tiers.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24442" y="1628080"/>
            <a:ext cx="2400240" cy="431829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8" name="Text 16"/>
          <p:cNvSpPr/>
          <p:nvPr/>
        </p:nvSpPr>
        <p:spPr>
          <a:xfrm>
            <a:off x="6680033" y="1932880"/>
            <a:ext cx="2044649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18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PRODUCT CONCENTRATION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80033" y="2345100"/>
            <a:ext cx="1689058" cy="793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250" spc="-62" kern="100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83%</a:t>
            </a:r>
            <a:endParaRPr lang="en-US" sz="6250" dirty="0"/>
          </a:p>
        </p:txBody>
      </p:sp>
      <p:sp>
        <p:nvSpPr>
          <p:cNvPr id="20" name="Text 18"/>
          <p:cNvSpPr/>
          <p:nvPr/>
        </p:nvSpPr>
        <p:spPr>
          <a:xfrm>
            <a:off x="6680033" y="3150295"/>
            <a:ext cx="1689058" cy="964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Blue cards share of transactions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80033" y="4268291"/>
            <a:ext cx="1688959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80033" y="4412853"/>
            <a:ext cx="1689058" cy="1149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Silver tier represents a distant second at 10% of transaction activity, while Gold and Platinum form specialized low-volume tiers.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81870" y="1628080"/>
            <a:ext cx="2400240" cy="431829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24" name="Shape 22"/>
          <p:cNvSpPr/>
          <p:nvPr/>
        </p:nvSpPr>
        <p:spPr>
          <a:xfrm>
            <a:off x="9181870" y="1628080"/>
            <a:ext cx="2400240" cy="25400"/>
          </a:xfrm>
          <a:prstGeom prst="rect">
            <a:avLst/>
          </a:prstGeom>
          <a:solidFill>
            <a:srgbClr val="D87346"/>
          </a:solidFill>
          <a:ln/>
        </p:spPr>
      </p:sp>
      <p:sp>
        <p:nvSpPr>
          <p:cNvPr id="25" name="Text 23"/>
          <p:cNvSpPr/>
          <p:nvPr/>
        </p:nvSpPr>
        <p:spPr>
          <a:xfrm>
            <a:off x="9537461" y="1958280"/>
            <a:ext cx="168905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18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GEOGRAPHIC CONCENTRATION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37461" y="2554254"/>
            <a:ext cx="1689058" cy="793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250" spc="-62" kern="1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77%</a:t>
            </a:r>
            <a:endParaRPr lang="en-US" sz="6250" dirty="0"/>
          </a:p>
        </p:txBody>
      </p:sp>
      <p:sp>
        <p:nvSpPr>
          <p:cNvPr id="27" name="Text 25"/>
          <p:cNvSpPr/>
          <p:nvPr/>
        </p:nvSpPr>
        <p:spPr>
          <a:xfrm>
            <a:off x="9537461" y="3359448"/>
            <a:ext cx="1689058" cy="64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from TX, NY &amp; CA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37461" y="4155877"/>
            <a:ext cx="1688959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37461" y="4300438"/>
            <a:ext cx="1689058" cy="134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California leads as the single highest revenue-generating market, combining with Texas and New York to represent over three-quarters of portfolio earnings.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9585" y="6092230"/>
            <a:ext cx="11582110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18" kern="10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Analysis across 10,108 customer purchase events · Geographical and Tier Breakdown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09600"/>
            <a:ext cx="4470288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445" y="558800"/>
            <a:ext cx="59942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CONTINUOUS PIPELINE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197445" y="935315"/>
            <a:ext cx="5486263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Week 53 data flowed in automatically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197445" y="2046089"/>
            <a:ext cx="5486263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197445" y="2320727"/>
            <a:ext cx="5486263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185 new rows for 31 December 2025 added to PostgreSQL</a:t>
            </a:r>
            <a:endParaRPr lang="en-US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Both dashboards refreshed in real time, KPIs and charts included</a:t>
            </a:r>
            <a:endParaRPr lang="en-US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separate week-on-week view shows revenue in thousands (K)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9600"/>
            <a:ext cx="655303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OPERATIONAL SURGE · WEEK 53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2227263"/>
            <a:ext cx="599425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800" spc="-88" kern="100" dirty="0">
                <a:solidFill>
                  <a:srgbClr val="D8734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+28%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558786" y="3517900"/>
            <a:ext cx="5994151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3792538"/>
            <a:ext cx="5994250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5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Week-on-week revenue expansion during Year-End closing.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58786" y="5736630"/>
            <a:ext cx="5994250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satisfaction score rose to </a:t>
            </a:r>
            <a:pPr algn="l" indent="0" marL="0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E7E3D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3.49</a:t>
            </a:r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against the full-year average benchmark of </a:t>
            </a:r>
            <a:pPr algn="l" indent="0" marL="0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E7E3D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3.19</a:t>
            </a:r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11822" y="0"/>
            <a:ext cx="5079873" cy="6858000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8" name="Text 6"/>
          <p:cNvSpPr/>
          <p:nvPr/>
        </p:nvSpPr>
        <p:spPr>
          <a:xfrm>
            <a:off x="7518212" y="755848"/>
            <a:ext cx="426709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25292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Transaction amount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18212" y="1423531"/>
            <a:ext cx="426709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+33.5%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18212" y="1983879"/>
            <a:ext cx="4267093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count up +12.8% WoW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18212" y="2703215"/>
            <a:ext cx="426709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25292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Interest earned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18212" y="3370897"/>
            <a:ext cx="426709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139K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18212" y="3931245"/>
            <a:ext cx="4267093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Direct financing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18212" y="4650581"/>
            <a:ext cx="426709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25292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Activation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18212" y="5318264"/>
            <a:ext cx="426709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56.8%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18212" y="5878612"/>
            <a:ext cx="4267093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Delinquent rate held at 5.41%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18212" y="2448917"/>
            <a:ext cx="4267093" cy="127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8" name="Shape 16"/>
          <p:cNvSpPr/>
          <p:nvPr/>
        </p:nvSpPr>
        <p:spPr>
          <a:xfrm>
            <a:off x="7518212" y="4396284"/>
            <a:ext cx="4267093" cy="12700"/>
          </a:xfrm>
          <a:prstGeom prst="rect">
            <a:avLst/>
          </a:prstGeom>
          <a:solidFill>
            <a:srgbClr val="7D817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110" kern="10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DEMOGRAPHIC &amp; SPEND 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86115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Who drove Week 53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624211"/>
            <a:ext cx="66038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Breakdown across customer demographics, professional segments, and card categories during the final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47669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999482"/>
            <a:ext cx="10972526" cy="2784872"/>
          </a:xfrm>
          <a:prstGeom prst="rect">
            <a:avLst/>
          </a:prstGeom>
          <a:solidFill>
            <a:srgbClr val="D5D3C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377" y="3151882"/>
          <a:ext cx="10362941" cy="914400"/>
        </p:xfrm>
        <a:graphic>
          <a:graphicData uri="http://schemas.openxmlformats.org/drawingml/2006/table">
            <a:tbl>
              <a:tblPr/>
              <a:tblGrid>
                <a:gridCol w="2694317"/>
                <a:gridCol w="3108843"/>
                <a:gridCol w="2279791"/>
                <a:gridCol w="2279990"/>
              </a:tblGrid>
              <a:tr h="2641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0" kern="1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DIMENSION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0" kern="1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PRIMARY SEGMENT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110" kern="1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REVENUE CONTRIBUTION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110" kern="1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SECONDARY COMPARISON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  <a:tr h="297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Gender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Male cardholders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708K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Female: 493K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  <a:tr h="297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Merchant category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Entertainment &amp; Fuel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260K each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Leading spend sectors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  <a:tr h="297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Profession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Businessmen &amp; Self-employed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Top job classes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Primary income engines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  <a:tr h="297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Payment mode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Swipe modality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749K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Chip &amp; Online follow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  <a:tr h="2971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Card tier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Blue cards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1.04M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Dominant product tier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  <a:tr h="367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Marital status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Married cardholders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643K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5292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Followed by singles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3C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377" y="5408513"/>
            <a:ext cx="10667733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22" kern="1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Week 53 cohort telemetry · Revenue reported in Thousands (K) and Millions (M)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2026-10-21T11:22:10Z</dcterms:created>
  <dcterms:modified xsi:type="dcterms:W3CDTF">2026-10-21T11:22:10Z</dcterms:modified>
</cp:coreProperties>
</file>